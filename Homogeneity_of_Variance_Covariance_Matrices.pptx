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59" r:id="rId13"/>
    <p:sldId id="266" r:id="rId14"/>
    <p:sldId id="260" r:id="rId15"/>
    <p:sldId id="261" r:id="rId16"/>
    <p:sldId id="267" r:id="rId17"/>
    <p:sldId id="262" r:id="rId18"/>
    <p:sldId id="263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64" r:id="rId27"/>
    <p:sldId id="265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76633"/>
            <a:ext cx="7772400" cy="2523818"/>
          </a:xfrm>
        </p:spPr>
        <p:txBody>
          <a:bodyPr>
            <a:normAutofit/>
          </a:bodyPr>
          <a:lstStyle/>
          <a:p>
            <a:r>
              <a:rPr sz="7200" b="1" dirty="0">
                <a:latin typeface="Edwardian Script ITC" panose="030303020407070D0804" pitchFamily="66" charset="0"/>
              </a:rPr>
              <a:t>Homogeneity of Variance–Covariance Matrices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sz="4800" b="1" dirty="0">
                <a:solidFill>
                  <a:srgbClr val="0070C0"/>
                </a:solidFill>
                <a:latin typeface="Pristina" panose="03060402040406080204" pitchFamily="66" charset="0"/>
              </a:rPr>
              <a:t>Applied Multivariate Statistics</a:t>
            </a:r>
            <a:endParaRPr lang="en-US" sz="4800" b="1" dirty="0">
              <a:solidFill>
                <a:srgbClr val="0070C0"/>
              </a:solidFill>
              <a:latin typeface="Pristina" panose="03060402040406080204" pitchFamily="66" charset="0"/>
            </a:endParaRPr>
          </a:p>
          <a:p>
            <a:r>
              <a:rPr lang="en-US" sz="3800" b="1" dirty="0">
                <a:solidFill>
                  <a:srgbClr val="0070C0"/>
                </a:solidFill>
                <a:latin typeface="+mj-lt"/>
              </a:rPr>
              <a:t>Muhammad Jawad Khan </a:t>
            </a:r>
          </a:p>
          <a:p>
            <a:endParaRPr sz="4800" b="1" dirty="0">
              <a:solidFill>
                <a:srgbClr val="0070C0"/>
              </a:solidFill>
              <a:latin typeface="Pristina" panose="03060402040406080204" pitchFamily="66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4000" b="1" dirty="0">
                <a:solidFill>
                  <a:srgbClr val="0070C0"/>
                </a:solidFill>
                <a:latin typeface="Pristina" panose="03060402040406080204" pitchFamily="66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 multivariate statistics, we often analyze multiple dependent variables simultaneously.</a:t>
            </a:r>
          </a:p>
          <a:p>
            <a:r>
              <a:rPr dirty="0"/>
              <a:t>Many multivariate techniques rely on certain assumptions.</a:t>
            </a:r>
          </a:p>
          <a:p>
            <a:r>
              <a:rPr dirty="0"/>
              <a:t>One of the most important assumptions is homogeneity of variance–covariance matrices.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4000" b="1" dirty="0">
                <a:solidFill>
                  <a:srgbClr val="0070C0"/>
                </a:solidFill>
                <a:latin typeface="Pristina" panose="03060402040406080204" pitchFamily="66" charset="0"/>
              </a:rPr>
              <a:t>Variance and Covariance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Variance</a:t>
            </a:r>
            <a:r>
              <a:rPr lang="en-GB" dirty="0"/>
              <a:t> measures how much the values of a </a:t>
            </a:r>
            <a:r>
              <a:rPr lang="en-GB" b="1" dirty="0"/>
              <a:t>single variable</a:t>
            </a:r>
            <a:r>
              <a:rPr lang="en-GB" dirty="0"/>
              <a:t> deviate from their mean.</a:t>
            </a:r>
          </a:p>
          <a:p>
            <a:pPr marL="0" indent="0">
              <a:buNone/>
            </a:pPr>
            <a:r>
              <a:rPr lang="en-GB" dirty="0"/>
              <a:t>  In simple words: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Variance tells us </a:t>
            </a:r>
            <a:r>
              <a:rPr lang="en-GB" b="1" dirty="0"/>
              <a:t>how spread out the data is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If variance is: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b="1" dirty="0"/>
              <a:t>Small</a:t>
            </a:r>
            <a:r>
              <a:rPr lang="en-GB" dirty="0"/>
              <a:t> → values are close to the mean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b="1" dirty="0"/>
              <a:t>Large</a:t>
            </a:r>
            <a:r>
              <a:rPr lang="en-GB" dirty="0"/>
              <a:t> → values are widely spread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EC0F1-CDE2-9803-B94B-04C58AD8E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7987"/>
            <a:ext cx="8229600" cy="1299651"/>
          </a:xfrm>
        </p:spPr>
        <p:txBody>
          <a:bodyPr>
            <a:normAutofit fontScale="90000"/>
          </a:bodyPr>
          <a:lstStyle/>
          <a:p>
            <a:pPr algn="l"/>
            <a:r>
              <a:rPr lang="en-GB" b="1" dirty="0">
                <a:solidFill>
                  <a:srgbClr val="0070C0"/>
                </a:solidFill>
                <a:latin typeface="Pristina" panose="03060402040406080204" pitchFamily="66" charset="0"/>
              </a:rPr>
              <a:t>Why variance is important</a:t>
            </a:r>
            <a:br>
              <a:rPr lang="en-GB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357A6-C37A-A465-027D-633EAA476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Variance helps us understand:</a:t>
            </a:r>
          </a:p>
          <a:p>
            <a:r>
              <a:rPr lang="en-GB" dirty="0"/>
              <a:t>Data </a:t>
            </a:r>
            <a:r>
              <a:rPr lang="en-GB" b="1" dirty="0"/>
              <a:t>consistency</a:t>
            </a:r>
            <a:endParaRPr lang="en-GB" dirty="0"/>
          </a:p>
          <a:p>
            <a:r>
              <a:rPr lang="en-GB" b="1" dirty="0"/>
              <a:t>Risk</a:t>
            </a:r>
            <a:r>
              <a:rPr lang="en-GB" dirty="0"/>
              <a:t> and uncertainty</a:t>
            </a:r>
          </a:p>
          <a:p>
            <a:r>
              <a:rPr lang="en-GB" dirty="0"/>
              <a:t>Reliability of measurements</a:t>
            </a:r>
          </a:p>
          <a:p>
            <a:r>
              <a:rPr lang="en-GB" dirty="0"/>
              <a:t>Two groups may have the same mean but very different variances — which changes interpretation.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234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9CA7D-B16C-7258-3475-86D38266C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70C0"/>
                </a:solidFill>
                <a:latin typeface="Pristina" panose="03060402040406080204" pitchFamily="66" charset="0"/>
              </a:rPr>
              <a:t>Mathematical formula</a:t>
            </a:r>
            <a:br>
              <a:rPr lang="en-US" b="1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4A0AA9-6EF8-069B-F3D0-D0945837FE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For a population: </a:t>
                </a:r>
                <a:r>
                  <a:rPr lang="en-US" dirty="0">
                    <a:sym typeface="Wingdings" panose="05000000000000000000" pitchFamily="2" charset="2"/>
                  </a:rPr>
                  <a:t>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For a sample:</a:t>
                </a:r>
                <a:r>
                  <a:rPr lang="en-US" dirty="0">
                    <a:sym typeface="Wingdings" panose="05000000000000000000" pitchFamily="2" charset="2"/>
                  </a:rPr>
                  <a:t></a:t>
                </a:r>
                <a:endParaRPr lang="en-US" dirty="0"/>
              </a:p>
              <a:p>
                <a:r>
                  <a:rPr lang="en-US" dirty="0"/>
                  <a:t>Where: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US" dirty="0"/>
                  <a:t>observed value</a:t>
                </a:r>
              </a:p>
              <a:p>
                <a14:m>
                  <m:oMath xmlns:m="http://schemas.openxmlformats.org/officeDocument/2006/math">
                    <m:limUpp>
                      <m:limUp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lim>
                        <m:r>
                          <a:rPr lang="ar-AE">
                            <a:latin typeface="Cambria Math" panose="02040503050406030204" pitchFamily="18" charset="0"/>
                          </a:rPr>
                          <m:t>ˉ</m:t>
                        </m:r>
                      </m:lim>
                    </m:limUpp>
                  </m:oMath>
                </a14:m>
                <a:r>
                  <a:rPr lang="en-US" dirty="0"/>
                  <a:t>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= mean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= sample size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4A0AA9-6EF8-069B-F3D0-D0945837FE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3100" b="-2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66F6BA04-161C-C3C8-C4E3-DD9B2E9C8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722" y="1600199"/>
            <a:ext cx="3864077" cy="2709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096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AFDCA-26D5-E762-5BD3-E6B1F9A68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70C0"/>
                </a:solidFill>
                <a:latin typeface="Pristina" panose="03060402040406080204" pitchFamily="66" charset="0"/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3C30C-A90E-D6BD-2E49-03318688F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Suppose exam scores of two classes:</a:t>
            </a:r>
          </a:p>
          <a:p>
            <a:r>
              <a:rPr lang="en-GB" b="1" dirty="0"/>
              <a:t>Class A</a:t>
            </a:r>
            <a:r>
              <a:rPr lang="en-GB" dirty="0"/>
              <a:t>: 60, 61, 59, 60</a:t>
            </a:r>
          </a:p>
          <a:p>
            <a:r>
              <a:rPr lang="en-GB" b="1" dirty="0"/>
              <a:t>Class B</a:t>
            </a:r>
            <a:r>
              <a:rPr lang="en-GB" dirty="0"/>
              <a:t>: 40, 60, 80, 100</a:t>
            </a:r>
          </a:p>
          <a:p>
            <a:r>
              <a:rPr lang="en-GB" dirty="0"/>
              <a:t>Both have almost the </a:t>
            </a:r>
            <a:r>
              <a:rPr lang="en-GB" b="1" dirty="0"/>
              <a:t>same mean</a:t>
            </a:r>
            <a:r>
              <a:rPr lang="en-GB" dirty="0"/>
              <a:t>, but:</a:t>
            </a:r>
          </a:p>
          <a:p>
            <a:r>
              <a:rPr lang="en-GB" dirty="0"/>
              <a:t>Class A → </a:t>
            </a:r>
            <a:r>
              <a:rPr lang="en-GB" b="1" dirty="0"/>
              <a:t>low variance</a:t>
            </a:r>
            <a:endParaRPr lang="en-GB" dirty="0"/>
          </a:p>
          <a:p>
            <a:r>
              <a:rPr lang="en-GB" dirty="0"/>
              <a:t>Class B → </a:t>
            </a:r>
            <a:r>
              <a:rPr lang="en-GB" b="1" dirty="0"/>
              <a:t>high variance</a:t>
            </a:r>
            <a:endParaRPr lang="en-GB" dirty="0"/>
          </a:p>
          <a:p>
            <a:r>
              <a:rPr lang="en-GB" dirty="0"/>
              <a:t>➡️ This shows why variance matters beyond averages.</a:t>
            </a:r>
          </a:p>
          <a:p>
            <a:pPr marL="0" indent="0">
              <a:buNone/>
            </a:pPr>
            <a:r>
              <a:rPr lang="en-GB" dirty="0"/>
              <a:t>Key point </a:t>
            </a:r>
          </a:p>
          <a:p>
            <a:r>
              <a:rPr lang="en-GB" dirty="0"/>
              <a:t>Variance measures variability </a:t>
            </a:r>
            <a:r>
              <a:rPr lang="en-GB" b="1" dirty="0"/>
              <a:t>within</a:t>
            </a:r>
            <a:r>
              <a:rPr lang="en-GB" dirty="0"/>
              <a:t> a single variable, not relationships between variables.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553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9E85A-D05C-CD97-27B2-B602CD370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b="1" dirty="0">
                <a:solidFill>
                  <a:srgbClr val="0070C0"/>
                </a:solidFill>
                <a:latin typeface="Pristina" panose="03060402040406080204" pitchFamily="66" charset="0"/>
              </a:rPr>
              <a:t>Covariance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406C7-D3C9-E70B-C463-5C6CA1B30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Covariance</a:t>
            </a:r>
            <a:r>
              <a:rPr lang="en-GB" dirty="0"/>
              <a:t> measures how </a:t>
            </a:r>
            <a:r>
              <a:rPr lang="en-GB" b="1" dirty="0"/>
              <a:t>two variables change together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In simple words:</a:t>
            </a:r>
          </a:p>
          <a:p>
            <a:r>
              <a:rPr lang="en-GB" dirty="0"/>
              <a:t>Covariance tells us whether two variables </a:t>
            </a:r>
            <a:r>
              <a:rPr lang="en-GB" b="1" dirty="0"/>
              <a:t>move in the same direction or in opposite directions</a:t>
            </a:r>
            <a:r>
              <a:rPr lang="en-GB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21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AF51B-285E-69F7-ACD9-EBB51F627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70C0"/>
                </a:solidFill>
                <a:latin typeface="Pristina" panose="03060402040406080204" pitchFamily="66" charset="0"/>
              </a:rPr>
              <a:t>Why covariance is important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8F07B-5459-1E93-054C-5DAD807F3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Covariance helps us:</a:t>
            </a:r>
          </a:p>
          <a:p>
            <a:r>
              <a:rPr lang="en-GB" dirty="0"/>
              <a:t>Understand </a:t>
            </a:r>
            <a:r>
              <a:rPr lang="en-GB" b="1" dirty="0"/>
              <a:t>relationships between variables</a:t>
            </a:r>
            <a:endParaRPr lang="en-GB" dirty="0"/>
          </a:p>
          <a:p>
            <a:r>
              <a:rPr lang="en-GB" dirty="0"/>
              <a:t>Form the basis for </a:t>
            </a:r>
            <a:r>
              <a:rPr lang="en-GB" b="1" dirty="0"/>
              <a:t>correlation</a:t>
            </a:r>
            <a:endParaRPr lang="en-GB" dirty="0"/>
          </a:p>
          <a:p>
            <a:r>
              <a:rPr lang="en-GB" dirty="0"/>
              <a:t>Build multivariate models (MANOVA, PCA, regression)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984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92C53-7282-FA16-996C-EE9BEF3CA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GB" b="1" dirty="0">
                <a:solidFill>
                  <a:srgbClr val="0070C0"/>
                </a:solidFill>
                <a:latin typeface="Pristina" panose="03060402040406080204" pitchFamily="66" charset="0"/>
              </a:rPr>
              <a:t>Mathematical formula</a:t>
            </a:r>
            <a:br>
              <a:rPr lang="en-GB" b="1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94F033-4959-F714-BE7A-38831B356A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For a population:</a:t>
                </a:r>
                <a:r>
                  <a:rPr lang="en-GB" dirty="0">
                    <a:sym typeface="Wingdings" panose="05000000000000000000" pitchFamily="2" charset="2"/>
                  </a:rPr>
                  <a:t> </a:t>
                </a:r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For a sample:</a:t>
                </a:r>
                <a:r>
                  <a:rPr lang="en-GB" dirty="0">
                    <a:sym typeface="Wingdings" panose="05000000000000000000" pitchFamily="2" charset="2"/>
                  </a:rPr>
                  <a:t>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US" dirty="0"/>
                  <a:t>observed value</a:t>
                </a:r>
              </a:p>
              <a:p>
                <a14:m>
                  <m:oMath xmlns:m="http://schemas.openxmlformats.org/officeDocument/2006/math">
                    <m:limUpp>
                      <m:limUp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lim>
                        <m:r>
                          <a:rPr lang="ar-AE">
                            <a:latin typeface="Cambria Math" panose="02040503050406030204" pitchFamily="18" charset="0"/>
                          </a:rPr>
                          <m:t>ˉ</m:t>
                        </m:r>
                      </m:lim>
                    </m:limUpp>
                  </m:oMath>
                </a14:m>
                <a:r>
                  <a:rPr lang="en-US" dirty="0"/>
                  <a:t>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= mean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= sample size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94F033-4959-F714-BE7A-38831B356A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39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5C0BB1A3-6375-8082-A3E3-A270D9614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0198" y="1417638"/>
            <a:ext cx="4851533" cy="294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73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8BE3C-2156-A143-9D0D-CDCBED969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sz="4000" b="1" dirty="0">
                <a:solidFill>
                  <a:srgbClr val="0070C0"/>
                </a:solidFill>
                <a:latin typeface="Pristina" panose="03060402040406080204" pitchFamily="66" charset="0"/>
              </a:rPr>
              <a:t>Interpretation of covariance</a:t>
            </a:r>
            <a:endParaRPr lang="en-US" sz="4000" dirty="0">
              <a:solidFill>
                <a:srgbClr val="0070C0"/>
              </a:solidFill>
              <a:latin typeface="Pristina" panose="03060402040406080204" pitchFamily="66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3F0514C-7AE9-9E65-7B90-8FC0DFF1AE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9994337"/>
              </p:ext>
            </p:extLst>
          </p:nvPr>
        </p:nvGraphicFramePr>
        <p:xfrm>
          <a:off x="324465" y="1209946"/>
          <a:ext cx="8229600" cy="173736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757250193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40991319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Covariance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024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Positive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Both variables increase or decrease together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5893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Negative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One increases while the other decreases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7166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Zero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 linear relationship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960189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52D41B8-446E-AEFC-91E9-A8235AEE8B9B}"/>
              </a:ext>
            </a:extLst>
          </p:cNvPr>
          <p:cNvSpPr txBox="1"/>
          <p:nvPr/>
        </p:nvSpPr>
        <p:spPr>
          <a:xfrm>
            <a:off x="324464" y="3033532"/>
            <a:ext cx="8819535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800" b="1" dirty="0">
                <a:solidFill>
                  <a:srgbClr val="0070C0"/>
                </a:solidFill>
                <a:latin typeface="Pristina" panose="03060402040406080204" pitchFamily="66" charset="0"/>
              </a:rPr>
              <a:t>Important limitation </a:t>
            </a:r>
          </a:p>
          <a:p>
            <a:pPr>
              <a:buNone/>
            </a:pPr>
            <a:r>
              <a:rPr lang="en-GB" dirty="0"/>
              <a:t>The </a:t>
            </a:r>
            <a:r>
              <a:rPr lang="en-GB" b="1" dirty="0"/>
              <a:t>magnitude</a:t>
            </a:r>
            <a:r>
              <a:rPr lang="en-GB" dirty="0"/>
              <a:t> of covariance is difficult to interpret because it depends on measurement units.</a:t>
            </a:r>
          </a:p>
          <a:p>
            <a:pPr>
              <a:buNone/>
            </a:pPr>
            <a:r>
              <a:rPr lang="en-GB" dirty="0"/>
              <a:t>This is why we often use </a:t>
            </a:r>
            <a:r>
              <a:rPr lang="en-GB" b="1" dirty="0"/>
              <a:t>correlation</a:t>
            </a:r>
            <a:r>
              <a:rPr lang="en-GB" dirty="0"/>
              <a:t>, which is standardized.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1A8768-5A06-8F73-6557-8EB0BABD8E4C}"/>
              </a:ext>
            </a:extLst>
          </p:cNvPr>
          <p:cNvSpPr txBox="1"/>
          <p:nvPr/>
        </p:nvSpPr>
        <p:spPr>
          <a:xfrm>
            <a:off x="324464" y="4437799"/>
            <a:ext cx="8096865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800" b="1" dirty="0">
                <a:solidFill>
                  <a:srgbClr val="0070C0"/>
                </a:solidFill>
                <a:latin typeface="Pristina" panose="03060402040406080204" pitchFamily="66" charset="0"/>
              </a:rPr>
              <a:t>Example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Height and weight → </a:t>
            </a:r>
            <a:r>
              <a:rPr lang="en-GB" b="1" dirty="0"/>
              <a:t>positive covariance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Price and demand → </a:t>
            </a:r>
            <a:r>
              <a:rPr lang="en-GB" b="1" dirty="0"/>
              <a:t>negative covariance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Shoe size and IQ → </a:t>
            </a:r>
            <a:r>
              <a:rPr lang="en-GB" b="1" dirty="0"/>
              <a:t>near zero covariance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3346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374EC-7672-0C21-BF97-AAE9FBC9B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70C0"/>
                </a:solidFill>
                <a:latin typeface="Pristina" panose="03060402040406080204" pitchFamily="66" charset="0"/>
              </a:rPr>
              <a:t>Variance vs Covariance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FD6B83B-D3D5-2E95-760A-7EE634C600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625311"/>
              </p:ext>
            </p:extLst>
          </p:nvPr>
        </p:nvGraphicFramePr>
        <p:xfrm>
          <a:off x="457200" y="1417638"/>
          <a:ext cx="8229600" cy="210312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3271585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7381403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0910251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Aspect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Variance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Covariance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2528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Number of variables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Two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10879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Measures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Spread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Joint movement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2023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Can be negative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8668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Role in multivariate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Diagonal elements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Off-diagonal elements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289929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97AD20-3289-38F7-490A-21168D9B1503}"/>
                  </a:ext>
                </a:extLst>
              </p:cNvPr>
              <p:cNvSpPr txBox="1"/>
              <p:nvPr/>
            </p:nvSpPr>
            <p:spPr>
              <a:xfrm>
                <a:off x="457199" y="3670922"/>
                <a:ext cx="8229599" cy="1631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800" b="1" dirty="0">
                    <a:solidFill>
                      <a:srgbClr val="0070C0"/>
                    </a:solidFill>
                    <a:latin typeface="Pristina" panose="03060402040406080204" pitchFamily="66" charset="0"/>
                  </a:rPr>
                  <a:t>Key distinction </a:t>
                </a:r>
              </a:p>
              <a:p>
                <a:pPr>
                  <a:buNone/>
                </a:pPr>
                <a:r>
                  <a:rPr lang="en-US" dirty="0"/>
                  <a:t>Variance is a special case of covariance where a variable is measured with itself.</a:t>
                </a:r>
              </a:p>
              <a:p>
                <a:pPr>
                  <a:buNone/>
                </a:pPr>
                <a:r>
                  <a:rPr lang="en-US" dirty="0"/>
                  <a:t>Mathematically: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/>
                        <m:t>Var</m:t>
                      </m:r>
                      <m:d>
                        <m:d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ar-AE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b="0" i="1">
                          <a:latin typeface="Cambria Math" panose="02040503050406030204" pitchFamily="18" charset="0"/>
                        </a:rPr>
                        <m:t>Cov</m:t>
                      </m:r>
                      <m:d>
                        <m:dPr>
                          <m:sepChr m:val=","/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ar-AE" b="0" dirty="0"/>
              </a:p>
              <a:p>
                <a:pPr>
                  <a:buNone/>
                </a:pPr>
                <a:r>
                  <a:rPr lang="en-US" dirty="0"/>
                  <a:t>This is a </a:t>
                </a:r>
                <a:r>
                  <a:rPr lang="en-US" b="1" dirty="0"/>
                  <a:t>high-impact theoretical statement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97AD20-3289-38F7-490A-21168D9B15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" y="3670922"/>
                <a:ext cx="8229599" cy="1631216"/>
              </a:xfrm>
              <a:prstGeom prst="rect">
                <a:avLst/>
              </a:prstGeom>
              <a:blipFill>
                <a:blip r:embed="rId2"/>
                <a:stretch>
                  <a:fillRect l="-1481" t="-3731" b="-48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17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4000" b="1" dirty="0">
                <a:solidFill>
                  <a:srgbClr val="0070C0"/>
                </a:solidFill>
                <a:latin typeface="Pristina" panose="03060402040406080204" pitchFamily="66" charset="0"/>
              </a:rPr>
              <a:t>Variance–Covariance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matrix that summarizes variances and covariances of multiple variables.</a:t>
            </a:r>
          </a:p>
          <a:p>
            <a:r>
              <a:rPr dirty="0"/>
              <a:t>Diagonal elements: variances of individual variables.</a:t>
            </a:r>
          </a:p>
          <a:p>
            <a:r>
              <a:rPr dirty="0"/>
              <a:t>Off-diagonal elements: covariances between variables.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8F3A3-E2B2-B4E1-BA58-24C87B575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2014946"/>
          </a:xfrm>
        </p:spPr>
        <p:txBody>
          <a:bodyPr>
            <a:normAutofit fontScale="90000"/>
          </a:bodyPr>
          <a:lstStyle/>
          <a:p>
            <a:pPr algn="l"/>
            <a:r>
              <a:rPr lang="en-GB" b="1" dirty="0">
                <a:solidFill>
                  <a:srgbClr val="0070C0"/>
                </a:solidFill>
                <a:latin typeface="Pristina" panose="03060402040406080204" pitchFamily="66" charset="0"/>
              </a:rPr>
              <a:t>What is Homogeneity of Variance–Covariance Matrices?</a:t>
            </a:r>
            <a:br>
              <a:rPr lang="en-GB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563D4-31BD-1A08-99F9-E5617CEB0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37069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Homogeneity of variance–covariance matrices is the assumption that </a:t>
            </a:r>
            <a:r>
              <a:rPr lang="en-GB" b="1" dirty="0"/>
              <a:t>all groups being compared have the same variance and covariance structure</a:t>
            </a:r>
            <a:r>
              <a:rPr lang="en-GB" dirty="0"/>
              <a:t> for the dependent variables.</a:t>
            </a:r>
          </a:p>
          <a:p>
            <a:r>
              <a:rPr lang="en-GB" dirty="0"/>
              <a:t>In simple words:</a:t>
            </a:r>
          </a:p>
          <a:p>
            <a:r>
              <a:rPr lang="en-GB" b="1" dirty="0"/>
              <a:t>Homogeneity of variance–covariance matrices is the assumption, and Box’s M test is the tool used to check whether that assumption holds.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Not only should the </a:t>
            </a:r>
            <a:r>
              <a:rPr lang="en-GB" b="1" dirty="0"/>
              <a:t>spread</a:t>
            </a:r>
            <a:r>
              <a:rPr lang="en-GB" dirty="0"/>
              <a:t> of each variable be similar across groups, but also the </a:t>
            </a:r>
            <a:r>
              <a:rPr lang="en-GB" b="1" dirty="0"/>
              <a:t>relationship between variables</a:t>
            </a:r>
            <a:r>
              <a:rPr lang="en-GB" dirty="0"/>
              <a:t> should be similar.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628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4000" b="1" dirty="0">
                <a:solidFill>
                  <a:srgbClr val="0070C0"/>
                </a:solidFill>
                <a:latin typeface="Pristina" panose="03060402040406080204" pitchFamily="66" charset="0"/>
              </a:rPr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Homogeneity of variance–covariance matrices means that:</a:t>
            </a:r>
          </a:p>
          <a:p>
            <a:r>
              <a:t>All groups have the same variance–covariance structure.</a:t>
            </a:r>
          </a:p>
          <a:p>
            <a:r>
              <a:t>Mathematically: Σ₁ = Σ₂ = Σ₃ = ... = Σg</a:t>
            </a:r>
          </a:p>
          <a:p>
            <a:r>
              <a:t>This is a multivariate extension of homogeneity of variance.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4000" b="1" dirty="0">
                <a:solidFill>
                  <a:srgbClr val="0070C0"/>
                </a:solidFill>
                <a:latin typeface="Pristina" panose="03060402040406080204" pitchFamily="66" charset="0"/>
              </a:rPr>
              <a:t>Why This Assumption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Required for MANOVA, discriminant analysis, and multivariate ANOVA.</a:t>
            </a:r>
          </a:p>
          <a:p>
            <a:r>
              <a:rPr dirty="0"/>
              <a:t>Ensures validity of test statistics.</a:t>
            </a:r>
          </a:p>
          <a:p>
            <a:r>
              <a:rPr dirty="0"/>
              <a:t>Violation may lead to incorrect conclusions and inflated Type I error.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901FCF0-75F9-A8CF-8823-E3AD20BCAA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0971714"/>
              </p:ext>
            </p:extLst>
          </p:nvPr>
        </p:nvGraphicFramePr>
        <p:xfrm>
          <a:off x="250720" y="1578075"/>
          <a:ext cx="8524569" cy="3170905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841523">
                  <a:extLst>
                    <a:ext uri="{9D8B030D-6E8A-4147-A177-3AD203B41FA5}">
                      <a16:colId xmlns:a16="http://schemas.microsoft.com/office/drawing/2014/main" val="100144628"/>
                    </a:ext>
                  </a:extLst>
                </a:gridCol>
                <a:gridCol w="2841523">
                  <a:extLst>
                    <a:ext uri="{9D8B030D-6E8A-4147-A177-3AD203B41FA5}">
                      <a16:colId xmlns:a16="http://schemas.microsoft.com/office/drawing/2014/main" val="97562441"/>
                    </a:ext>
                  </a:extLst>
                </a:gridCol>
                <a:gridCol w="2841523">
                  <a:extLst>
                    <a:ext uri="{9D8B030D-6E8A-4147-A177-3AD203B41FA5}">
                      <a16:colId xmlns:a16="http://schemas.microsoft.com/office/drawing/2014/main" val="3830442645"/>
                    </a:ext>
                  </a:extLst>
                </a:gridCol>
              </a:tblGrid>
              <a:tr h="11682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Aspect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Homogeneity of Variance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Homogeneity of Variance–Covariance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2381923"/>
                  </a:ext>
                </a:extLst>
              </a:tr>
              <a:tr h="6675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Number of variables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Two or more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0308334"/>
                  </a:ext>
                </a:extLst>
              </a:tr>
              <a:tr h="6675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What is compared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Variance 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Variance + covariance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086550"/>
                  </a:ext>
                </a:extLst>
              </a:tr>
              <a:tr h="6675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Used 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ANOVA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MANOVA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8364992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8DD8F6A1-6DBB-E753-2F37-8AF129765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721" y="340222"/>
            <a:ext cx="7119257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Pristina" panose="03060402040406080204" pitchFamily="66" charset="0"/>
              </a:rPr>
              <a:t>Difference from Homogeneity of Variance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1020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4000" b="1" dirty="0">
                <a:solidFill>
                  <a:srgbClr val="0070C0"/>
                </a:solidFill>
                <a:latin typeface="Pristina" panose="03060402040406080204" pitchFamily="66" charset="0"/>
              </a:rPr>
              <a:t>Practical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Suppose we compare three age groups using blood pressure and cholesterol.</a:t>
            </a:r>
          </a:p>
          <a:p>
            <a:r>
              <a:t>Homogeneity implies:</a:t>
            </a:r>
          </a:p>
          <a:p>
            <a:r>
              <a:t>- Similar variability of blood pressure across groups</a:t>
            </a:r>
          </a:p>
          <a:p>
            <a:r>
              <a:t>- Similar variability of cholesterol across groups</a:t>
            </a:r>
          </a:p>
          <a:p>
            <a:r>
              <a:t>- Similar relationship between blood pressure and cholesterol across groups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4000" b="1" dirty="0">
                <a:solidFill>
                  <a:srgbClr val="0070C0"/>
                </a:solidFill>
                <a:latin typeface="Pristina" panose="03060402040406080204" pitchFamily="66" charset="0"/>
              </a:rPr>
              <a:t>Testing Homogeneity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Box’s M Test is commonly used.</a:t>
            </a:r>
          </a:p>
          <a:p>
            <a:r>
              <a:rPr dirty="0"/>
              <a:t>Null hypothesis: covariance matrices are equal.</a:t>
            </a:r>
          </a:p>
          <a:p>
            <a:r>
              <a:rPr dirty="0"/>
              <a:t>p &gt; 0.05 → assumption satisfied</a:t>
            </a:r>
          </a:p>
          <a:p>
            <a:r>
              <a:rPr dirty="0"/>
              <a:t>p ≤ 0.05 → assumption violated</a:t>
            </a:r>
          </a:p>
          <a:p>
            <a:r>
              <a:rPr dirty="0"/>
              <a:t>Box’s M is sensitive to non-normality.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33FA9-D78D-5506-F073-F5BEE648C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GB" b="1" dirty="0">
                <a:solidFill>
                  <a:srgbClr val="0070C0"/>
                </a:solidFill>
                <a:latin typeface="Pristina" panose="03060402040406080204" pitchFamily="66" charset="0"/>
              </a:rPr>
              <a:t>Box’s M Test</a:t>
            </a:r>
            <a:br>
              <a:rPr lang="en-GB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9C4A3-D317-065A-31CC-C8F914C97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b="1" dirty="0"/>
              <a:t>Purpose:</a:t>
            </a:r>
          </a:p>
          <a:p>
            <a:pPr marL="0" indent="0">
              <a:buNone/>
            </a:pPr>
            <a:r>
              <a:rPr lang="en-GB" dirty="0"/>
              <a:t>To test whether the </a:t>
            </a:r>
            <a:r>
              <a:rPr lang="en-GB" b="1" dirty="0"/>
              <a:t>covariance matrices</a:t>
            </a:r>
            <a:r>
              <a:rPr lang="en-GB" dirty="0"/>
              <a:t> of your groups are </a:t>
            </a:r>
            <a:r>
              <a:rPr lang="en-GB" b="1" dirty="0"/>
              <a:t>equal</a:t>
            </a:r>
            <a:r>
              <a:rPr lang="en-GB" dirty="0"/>
              <a:t> (homogeneous).</a:t>
            </a:r>
          </a:p>
          <a:p>
            <a:pPr marL="0" indent="0">
              <a:buNone/>
            </a:pPr>
            <a:r>
              <a:rPr lang="en-GB" b="1" dirty="0"/>
              <a:t>Covariance matrix:</a:t>
            </a:r>
            <a:r>
              <a:rPr lang="en-GB" dirty="0"/>
              <a:t> </a:t>
            </a:r>
          </a:p>
          <a:p>
            <a:pPr marL="0" indent="0">
              <a:buNone/>
            </a:pPr>
            <a:r>
              <a:rPr lang="en-GB" dirty="0"/>
              <a:t>Shows how variables vary together within a group.</a:t>
            </a:r>
          </a:p>
          <a:p>
            <a:pPr marL="0" indent="0">
              <a:buNone/>
            </a:pPr>
            <a:r>
              <a:rPr lang="en-GB" b="1" dirty="0"/>
              <a:t>Homogeneity assumption:</a:t>
            </a:r>
          </a:p>
          <a:p>
            <a:pPr marL="0" indent="0">
              <a:buNone/>
            </a:pPr>
            <a:r>
              <a:rPr lang="en-GB" dirty="0"/>
              <a:t> Many multivariate tests assume all groups have similar patterns of variability.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0571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E437E-4A5E-93BC-8E8B-FF5DB7173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70C0"/>
                </a:solidFill>
                <a:latin typeface="Pristina" panose="03060402040406080204" pitchFamily="66" charset="0"/>
              </a:rPr>
              <a:t>Null and Alternative Hypothesis</a:t>
            </a:r>
            <a:br>
              <a:rPr lang="en-US" b="1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6D0CF4-5814-242C-B720-4163808113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b="0"/>
                            <m:t>H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i="1"/>
                        <m:t>Covariance</m:t>
                      </m:r>
                      <m:r>
                        <m:rPr>
                          <m:nor/>
                        </m:rPr>
                        <a:rPr lang="en-US" i="1"/>
                        <m:t> </m:t>
                      </m:r>
                      <m:r>
                        <m:rPr>
                          <m:nor/>
                        </m:rPr>
                        <a:rPr lang="en-US" i="1"/>
                        <m:t>matrices</m:t>
                      </m:r>
                      <m:r>
                        <m:rPr>
                          <m:nor/>
                        </m:rPr>
                        <a:rPr lang="en-US" i="1"/>
                        <m:t> </m:t>
                      </m:r>
                      <m:r>
                        <m:rPr>
                          <m:nor/>
                        </m:rPr>
                        <a:rPr lang="en-US" i="1"/>
                        <m:t>are</m:t>
                      </m:r>
                      <m:r>
                        <m:rPr>
                          <m:nor/>
                        </m:rPr>
                        <a:rPr lang="en-US" i="1"/>
                        <m:t> </m:t>
                      </m:r>
                      <m:r>
                        <m:rPr>
                          <m:nor/>
                        </m:rPr>
                        <a:rPr lang="en-US" i="1"/>
                        <m:t>equal</m:t>
                      </m:r>
                      <m:r>
                        <m:rPr>
                          <m:nor/>
                        </m:rPr>
                        <a:rPr lang="en-US" i="1"/>
                        <m:t> </m:t>
                      </m:r>
                      <m:r>
                        <m:rPr>
                          <m:nor/>
                        </m:rPr>
                        <a:rPr lang="en-US" i="1"/>
                        <m:t>across</m:t>
                      </m:r>
                      <m:r>
                        <m:rPr>
                          <m:nor/>
                        </m:rPr>
                        <a:rPr lang="en-US" i="1"/>
                        <m:t> </m:t>
                      </m:r>
                      <m:r>
                        <m:rPr>
                          <m:nor/>
                        </m:rPr>
                        <a:rPr lang="en-US" i="1"/>
                        <m:t>groups</m:t>
                      </m:r>
                      <m:r>
                        <m:rPr>
                          <m:nor/>
                        </m:rPr>
                        <a:rPr lang="en-US" b="0" i="1" smtClean="0"/>
                        <m:t>.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b="0"/>
                            <m:t>H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i="1"/>
                        <m:t>Covariance</m:t>
                      </m:r>
                      <m:r>
                        <m:rPr>
                          <m:nor/>
                        </m:rPr>
                        <a:rPr lang="en-US" i="1"/>
                        <m:t> </m:t>
                      </m:r>
                      <m:r>
                        <m:rPr>
                          <m:nor/>
                        </m:rPr>
                        <a:rPr lang="en-US" i="1"/>
                        <m:t>matrices</m:t>
                      </m:r>
                      <m:r>
                        <m:rPr>
                          <m:nor/>
                        </m:rPr>
                        <a:rPr lang="en-US" i="1"/>
                        <m:t> </m:t>
                      </m:r>
                      <m:r>
                        <m:rPr>
                          <m:nor/>
                        </m:rPr>
                        <a:rPr lang="en-US" i="1"/>
                        <m:t>are</m:t>
                      </m:r>
                      <m:r>
                        <m:rPr>
                          <m:nor/>
                        </m:rPr>
                        <a:rPr lang="en-US" i="1"/>
                        <m:t> </m:t>
                      </m:r>
                      <m:r>
                        <m:rPr>
                          <m:nor/>
                        </m:rPr>
                        <a:rPr lang="en-US" i="1"/>
                        <m:t>NOT</m:t>
                      </m:r>
                      <m:r>
                        <m:rPr>
                          <m:nor/>
                        </m:rPr>
                        <a:rPr lang="en-US" i="1"/>
                        <m:t> </m:t>
                      </m:r>
                      <m:r>
                        <m:rPr>
                          <m:nor/>
                        </m:rPr>
                        <a:rPr lang="en-US" i="1"/>
                        <m:t>equal</m:t>
                      </m:r>
                      <m:r>
                        <m:rPr>
                          <m:nor/>
                        </m:rPr>
                        <a:rPr lang="en-US" i="1"/>
                        <m:t> </m:t>
                      </m:r>
                      <m:r>
                        <m:rPr>
                          <m:nor/>
                        </m:rPr>
                        <a:rPr lang="en-US" i="1"/>
                        <m:t>across</m:t>
                      </m:r>
                      <m:r>
                        <m:rPr>
                          <m:nor/>
                        </m:rPr>
                        <a:rPr lang="en-US" i="1"/>
                        <m:t> </m:t>
                      </m:r>
                      <m:r>
                        <m:rPr>
                          <m:nor/>
                        </m:rPr>
                        <a:rPr lang="en-US" i="1"/>
                        <m:t>groups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r>
                  <a:rPr lang="en-US" b="1" dirty="0"/>
                  <a:t>Null hypothesis (H₀):</a:t>
                </a:r>
                <a:r>
                  <a:rPr lang="en-US" dirty="0"/>
                  <a:t> Assumes matrices are equal (homogeneity exists).</a:t>
                </a:r>
              </a:p>
              <a:p>
                <a:r>
                  <a:rPr lang="en-US" b="1" dirty="0"/>
                  <a:t>Alternative hypothesis (H₁):</a:t>
                </a:r>
                <a:r>
                  <a:rPr lang="en-US" dirty="0"/>
                  <a:t> Assumes matrices are unequal (homogeneity violated).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6D0CF4-5814-242C-B720-4163808113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r="-2593" b="-4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66906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C52E9-7165-B94A-63C7-5E8D3A008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GB" b="1" dirty="0">
                <a:solidFill>
                  <a:srgbClr val="0070C0"/>
                </a:solidFill>
                <a:latin typeface="Pristina" panose="03060402040406080204" pitchFamily="66" charset="0"/>
              </a:rPr>
              <a:t>Interpreting the p-value</a:t>
            </a:r>
            <a:br>
              <a:rPr lang="en-GB" b="1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EE449D-0B89-5A18-EB83-0A3A9B1910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GB" dirty="0"/>
                  <a:t>Box’s M Test gives a </a:t>
                </a:r>
                <a:r>
                  <a:rPr lang="en-GB" b="1" dirty="0"/>
                  <a:t>p-value</a:t>
                </a:r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r>
                  <a:rPr lang="en-GB" b="1" dirty="0"/>
                  <a:t>Case 1: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>
                        <a:latin typeface="Cambria Math" panose="02040503050406030204" pitchFamily="18" charset="0"/>
                      </a:rPr>
                      <m:t>&gt;0.05</m:t>
                    </m:r>
                  </m:oMath>
                </a14:m>
                <a:endParaRPr lang="en-GB" b="1" dirty="0"/>
              </a:p>
              <a:p>
                <a:r>
                  <a:rPr lang="en-GB" dirty="0"/>
                  <a:t>Probability of observing the data </a:t>
                </a:r>
                <a:r>
                  <a:rPr lang="en-GB" b="1" dirty="0"/>
                  <a:t>if H₀ is true</a:t>
                </a:r>
                <a:r>
                  <a:rPr lang="en-GB" dirty="0"/>
                  <a:t> is high</a:t>
                </a:r>
              </a:p>
              <a:p>
                <a:r>
                  <a:rPr lang="en-GB" b="1" dirty="0"/>
                  <a:t>Fail to reject H₀</a:t>
                </a:r>
                <a:r>
                  <a:rPr lang="en-GB" dirty="0"/>
                  <a:t> → covariance matrices are </a:t>
                </a:r>
                <a:r>
                  <a:rPr lang="en-GB" b="1" dirty="0"/>
                  <a:t>similar</a:t>
                </a:r>
                <a:endParaRPr lang="en-GB" dirty="0"/>
              </a:p>
              <a:p>
                <a:r>
                  <a:rPr lang="en-GB" b="1" dirty="0"/>
                  <a:t>Assumption satisfied</a:t>
                </a:r>
                <a:r>
                  <a:rPr lang="en-GB" dirty="0"/>
                  <a:t> → safe to proceed with MANOVA, etc.</a:t>
                </a:r>
              </a:p>
              <a:p>
                <a:pPr marL="0" indent="0">
                  <a:buNone/>
                </a:pPr>
                <a:r>
                  <a:rPr lang="en-GB" b="1" dirty="0"/>
                  <a:t> Case 2: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>
                        <a:latin typeface="Cambria Math" panose="02040503050406030204" pitchFamily="18" charset="0"/>
                      </a:rPr>
                      <m:t>≤0.05</m:t>
                    </m:r>
                  </m:oMath>
                </a14:m>
                <a:endParaRPr lang="en-GB" b="1" dirty="0"/>
              </a:p>
              <a:p>
                <a:r>
                  <a:rPr lang="en-GB" dirty="0"/>
                  <a:t>Probability of observing the data </a:t>
                </a:r>
                <a:r>
                  <a:rPr lang="en-GB" b="1" dirty="0"/>
                  <a:t>if H₀ is true</a:t>
                </a:r>
                <a:r>
                  <a:rPr lang="en-GB" dirty="0"/>
                  <a:t> is low</a:t>
                </a:r>
              </a:p>
              <a:p>
                <a:r>
                  <a:rPr lang="en-GB" b="1" dirty="0"/>
                  <a:t>Reject H₀</a:t>
                </a:r>
                <a:r>
                  <a:rPr lang="en-GB" dirty="0"/>
                  <a:t> → covariance matrices are </a:t>
                </a:r>
                <a:r>
                  <a:rPr lang="en-GB" b="1" dirty="0"/>
                  <a:t>different</a:t>
                </a:r>
                <a:endParaRPr lang="en-GB" dirty="0"/>
              </a:p>
              <a:p>
                <a:r>
                  <a:rPr lang="en-GB" b="1" dirty="0"/>
                  <a:t>Assumption violated</a:t>
                </a:r>
                <a:r>
                  <a:rPr lang="en-GB" dirty="0"/>
                  <a:t> → may need adjustments (e.g., use robust tests, transform data)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EE449D-0B89-5A18-EB83-0A3A9B1910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07" t="-2830" b="-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58733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F49F8BB-B58B-EF0D-AD2D-9569E041EE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845268"/>
            <a:ext cx="7477432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If p &gt; 0.05, your groups’ covariances are similar → test assumption is okay.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36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360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If p ≤ 0.05, your groups’ covariances are different → assumption is broken.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A6C2B5-DE46-79F5-E1F1-146101BEB48A}"/>
              </a:ext>
            </a:extLst>
          </p:cNvPr>
          <p:cNvSpPr txBox="1"/>
          <p:nvPr/>
        </p:nvSpPr>
        <p:spPr>
          <a:xfrm>
            <a:off x="457200" y="368710"/>
            <a:ext cx="30529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Pristina" panose="03060402040406080204" pitchFamily="66" charset="0"/>
              </a:rPr>
              <a:t>Summary result</a:t>
            </a:r>
          </a:p>
        </p:txBody>
      </p:sp>
    </p:spTree>
    <p:extLst>
      <p:ext uri="{BB962C8B-B14F-4D97-AF65-F5344CB8AC3E}">
        <p14:creationId xmlns:p14="http://schemas.microsoft.com/office/powerpoint/2010/main" val="19639737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B7738-B1B4-4E35-D67F-142FEEBEA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70C0"/>
                </a:solidFill>
                <a:latin typeface="Pristina" panose="03060402040406080204" pitchFamily="66" charset="0"/>
              </a:rPr>
              <a:t>SPSS: </a:t>
            </a:r>
            <a:r>
              <a:rPr lang="en-GB" sz="4000" b="1" dirty="0">
                <a:solidFill>
                  <a:srgbClr val="0070C0"/>
                </a:solidFill>
                <a:latin typeface="Pristina" panose="03060402040406080204" pitchFamily="66" charset="0"/>
              </a:rPr>
              <a:t>Homogeneity tests (Box’s M)</a:t>
            </a:r>
            <a:endParaRPr lang="en-US" sz="4000" b="1" dirty="0">
              <a:solidFill>
                <a:srgbClr val="0070C0"/>
              </a:solidFill>
              <a:latin typeface="Pristina" panose="03060402040406080204" pitchFamily="66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A425C16-49F1-76E4-473C-CD656352B1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199" y="1417638"/>
            <a:ext cx="8421329" cy="470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8768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2DC70-2E1C-192D-8B82-2C62447DF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70C0"/>
                </a:solidFill>
                <a:latin typeface="Pristina" panose="03060402040406080204" pitchFamily="66" charset="0"/>
              </a:rPr>
              <a:t>The result mean: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AA831-E6E3-3D8E-259F-2BF13ABFE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/>
              <a:t>Null hypothesis of Box’s M:</a:t>
            </a:r>
          </a:p>
          <a:p>
            <a:r>
              <a:rPr lang="en-GB" dirty="0"/>
              <a:t>Covariance matrices are equal across groups.</a:t>
            </a:r>
          </a:p>
          <a:p>
            <a:r>
              <a:rPr lang="en-GB" dirty="0"/>
              <a:t>Since </a:t>
            </a:r>
            <a:r>
              <a:rPr lang="en-GB" b="1" dirty="0"/>
              <a:t>p = 0.355 &gt; 0.05</a:t>
            </a:r>
            <a:r>
              <a:rPr lang="en-GB" dirty="0"/>
              <a:t>:</a:t>
            </a:r>
          </a:p>
          <a:p>
            <a:r>
              <a:rPr lang="en-GB" dirty="0"/>
              <a:t>We </a:t>
            </a:r>
            <a:r>
              <a:rPr lang="en-GB" b="1" dirty="0"/>
              <a:t>fail to reject</a:t>
            </a:r>
            <a:r>
              <a:rPr lang="en-GB" dirty="0"/>
              <a:t> the null hypothesis</a:t>
            </a:r>
          </a:p>
          <a:p>
            <a:r>
              <a:rPr lang="en-GB" dirty="0"/>
              <a:t>We do </a:t>
            </a:r>
            <a:r>
              <a:rPr lang="en-GB" b="1" dirty="0"/>
              <a:t>not</a:t>
            </a:r>
            <a:r>
              <a:rPr lang="en-GB" dirty="0"/>
              <a:t> have enough evidence to say matrices are different</a:t>
            </a:r>
          </a:p>
          <a:p>
            <a:r>
              <a:rPr lang="en-GB" dirty="0"/>
              <a:t>Therefore:</a:t>
            </a:r>
          </a:p>
          <a:p>
            <a:r>
              <a:rPr lang="en-GB" b="1" dirty="0"/>
              <a:t>The assumption of homogeneity of variance–covariance matrices is satisfied.</a:t>
            </a:r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8910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A89C8-22AA-2807-465A-6EF9D3654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GB" b="1" dirty="0">
                <a:solidFill>
                  <a:srgbClr val="0070C0"/>
                </a:solidFill>
                <a:latin typeface="Pristina" panose="03060402040406080204" pitchFamily="66" charset="0"/>
              </a:rPr>
              <a:t>A simple intuition</a:t>
            </a:r>
            <a:br>
              <a:rPr lang="en-GB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6A819-AA19-BB46-67A1-FE1C27DD4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4620"/>
            <a:ext cx="8229600" cy="4931544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Think of a </a:t>
            </a:r>
            <a:r>
              <a:rPr lang="en-GB" b="1" dirty="0"/>
              <a:t>court case</a:t>
            </a:r>
            <a:r>
              <a:rPr lang="en-GB" dirty="0"/>
              <a:t>:</a:t>
            </a:r>
          </a:p>
          <a:p>
            <a:r>
              <a:rPr lang="en-GB" dirty="0"/>
              <a:t>Null hypothesis = “The defendant is innocent”</a:t>
            </a:r>
          </a:p>
          <a:p>
            <a:r>
              <a:rPr lang="en-GB" dirty="0"/>
              <a:t>p-value = strength of evidence against innocence</a:t>
            </a:r>
          </a:p>
          <a:p>
            <a:r>
              <a:rPr lang="en-GB" dirty="0"/>
              <a:t>Your p-value = </a:t>
            </a:r>
            <a:r>
              <a:rPr lang="en-GB" b="1" dirty="0"/>
              <a:t>0.355</a:t>
            </a:r>
            <a:endParaRPr lang="en-GB" dirty="0"/>
          </a:p>
          <a:p>
            <a:r>
              <a:rPr lang="en-GB" dirty="0"/>
              <a:t>That’s like saying:</a:t>
            </a:r>
          </a:p>
          <a:p>
            <a:r>
              <a:rPr lang="en-GB" dirty="0"/>
              <a:t>“There is a 35.5% chance this evidence could happen even if the defendant is innocent.”</a:t>
            </a:r>
          </a:p>
          <a:p>
            <a:r>
              <a:rPr lang="en-GB" dirty="0"/>
              <a:t>That’s </a:t>
            </a:r>
            <a:r>
              <a:rPr lang="en-GB" b="1" dirty="0"/>
              <a:t>far too weak</a:t>
            </a:r>
            <a:r>
              <a:rPr lang="en-GB" dirty="0"/>
              <a:t> to declare guilt.</a:t>
            </a:r>
          </a:p>
          <a:p>
            <a:r>
              <a:rPr lang="en-GB" dirty="0"/>
              <a:t>So, the judge says:</a:t>
            </a:r>
          </a:p>
          <a:p>
            <a:r>
              <a:rPr lang="en-GB" b="1" dirty="0"/>
              <a:t>Not guilty</a:t>
            </a:r>
            <a:r>
              <a:rPr lang="en-GB" dirty="0"/>
              <a:t> (fail to reject H₀)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The Box’s M test is non-significant because the p-value (0.355) is greater than the chosen significance level of 0.05, indicating insufficient evidence to reject the null hypothesis of equal covariance matrices.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8184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b="1" dirty="0">
                <a:solidFill>
                  <a:srgbClr val="0070C0"/>
                </a:solidFill>
                <a:latin typeface="Pristina" panose="03060402040406080204" pitchFamily="66" charset="0"/>
              </a:rPr>
              <a:t>What If the Assumption Is Violated?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 Pillai’s Trace instead of Wilks’ Lambda.</a:t>
            </a:r>
          </a:p>
          <a:p>
            <a:r>
              <a:rPr dirty="0"/>
              <a:t>Apply data transformations.</a:t>
            </a:r>
          </a:p>
          <a:p>
            <a:r>
              <a:rPr dirty="0"/>
              <a:t>Use robust or alternative multivariate methods.</a:t>
            </a:r>
          </a:p>
          <a:p>
            <a:r>
              <a:rPr dirty="0"/>
              <a:t>Interpret results with caution.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4000" b="1" dirty="0">
                <a:solidFill>
                  <a:srgbClr val="0070C0"/>
                </a:solidFill>
                <a:latin typeface="Pristina" panose="03060402040406080204" pitchFamily="66" charset="0"/>
              </a:rP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Homogeneity of variance–covariance is a core assumption in multivariate analysis.</a:t>
            </a:r>
          </a:p>
          <a:p>
            <a:r>
              <a:rPr dirty="0"/>
              <a:t>It extends homogeneity of variance to multiple variables.</a:t>
            </a:r>
          </a:p>
          <a:p>
            <a:r>
              <a:rPr dirty="0"/>
              <a:t>Understanding this assumption improves interpretation and research quality.</a:t>
            </a:r>
            <a:br>
              <a:rPr lang="en-GB" dirty="0"/>
            </a:br>
            <a:endParaRPr lang="en-GB" dirty="0"/>
          </a:p>
          <a:p>
            <a:r>
              <a:rPr lang="en-GB" b="1" dirty="0"/>
              <a:t>Homogeneity</a:t>
            </a:r>
            <a:r>
              <a:rPr lang="en-GB" dirty="0"/>
              <a:t> → </a:t>
            </a:r>
            <a:r>
              <a:rPr lang="en-GB" i="1" dirty="0"/>
              <a:t>The rule / assumption</a:t>
            </a:r>
            <a:endParaRPr lang="en-GB" dirty="0"/>
          </a:p>
          <a:p>
            <a:r>
              <a:rPr lang="en-GB" b="1" dirty="0"/>
              <a:t>Box’s M test</a:t>
            </a:r>
            <a:r>
              <a:rPr lang="en-GB" dirty="0"/>
              <a:t> → </a:t>
            </a:r>
            <a:r>
              <a:rPr lang="en-GB" i="1" dirty="0"/>
              <a:t>The inspection method to check the rule</a:t>
            </a:r>
            <a:endParaRPr lang="en-GB" dirty="0"/>
          </a:p>
          <a:p>
            <a:r>
              <a:rPr lang="en-GB" dirty="0"/>
              <a:t>Just like:</a:t>
            </a:r>
          </a:p>
          <a:p>
            <a:r>
              <a:rPr lang="en-GB" dirty="0"/>
              <a:t>“Normality” is checked using Shapiro–Wilk</a:t>
            </a:r>
          </a:p>
          <a:p>
            <a:r>
              <a:rPr lang="en-GB" dirty="0"/>
              <a:t>“Equal variances” is checked using Levene’s test</a:t>
            </a:r>
          </a:p>
          <a:p>
            <a:r>
              <a:rPr lang="en-GB" b="1" dirty="0"/>
              <a:t>“Equal covariance matrices” is checked using Box’s M test</a:t>
            </a:r>
            <a:endParaRPr lang="en-GB" dirty="0"/>
          </a:p>
          <a:p>
            <a:r>
              <a:rPr lang="en-GB" dirty="0"/>
              <a:t>This logical link is exactly what examiners expect.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1279</Words>
  <Application>Microsoft Office PowerPoint</Application>
  <PresentationFormat>On-screen Show (4:3)</PresentationFormat>
  <Paragraphs>206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Cambria Math</vt:lpstr>
      <vt:lpstr>Edwardian Script ITC</vt:lpstr>
      <vt:lpstr>Pristina</vt:lpstr>
      <vt:lpstr>Wingdings</vt:lpstr>
      <vt:lpstr>Office Theme</vt:lpstr>
      <vt:lpstr>Homogeneity of Variance–Covariance Matrices</vt:lpstr>
      <vt:lpstr>Introduction</vt:lpstr>
      <vt:lpstr>Variance and Covariance</vt:lpstr>
      <vt:lpstr>Why variance is important </vt:lpstr>
      <vt:lpstr>Mathematical formula </vt:lpstr>
      <vt:lpstr>Example</vt:lpstr>
      <vt:lpstr>Covariance </vt:lpstr>
      <vt:lpstr>Why covariance is important </vt:lpstr>
      <vt:lpstr>Mathematical formula </vt:lpstr>
      <vt:lpstr>Interpretation of covariance</vt:lpstr>
      <vt:lpstr>Variance vs Covariance</vt:lpstr>
      <vt:lpstr>Variance–Covariance Matrix</vt:lpstr>
      <vt:lpstr>What is Homogeneity of Variance–Covariance Matrices? </vt:lpstr>
      <vt:lpstr>Definition</vt:lpstr>
      <vt:lpstr>Why This Assumption Matters</vt:lpstr>
      <vt:lpstr>PowerPoint Presentation</vt:lpstr>
      <vt:lpstr>Practical Example</vt:lpstr>
      <vt:lpstr>Testing Homogeneity</vt:lpstr>
      <vt:lpstr>Box’s M Test </vt:lpstr>
      <vt:lpstr>Null and Alternative Hypothesis </vt:lpstr>
      <vt:lpstr>Interpreting the p-value </vt:lpstr>
      <vt:lpstr>PowerPoint Presentation</vt:lpstr>
      <vt:lpstr>SPSS: Homogeneity tests (Box’s M)</vt:lpstr>
      <vt:lpstr>The result mean:</vt:lpstr>
      <vt:lpstr>A simple intuition </vt:lpstr>
      <vt:lpstr>What If the Assumption Is Violated?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Muhammad Jawad Khan</cp:lastModifiedBy>
  <cp:revision>9</cp:revision>
  <dcterms:created xsi:type="dcterms:W3CDTF">2013-01-27T09:14:16Z</dcterms:created>
  <dcterms:modified xsi:type="dcterms:W3CDTF">2026-05-20T12:11:58Z</dcterms:modified>
  <cp:category/>
</cp:coreProperties>
</file>